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09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PORTFLOW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6446520"/>
            <a:ext cx="11567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ReportFlow | {{MOIS_ANALYSE}}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01400" y="65105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{{NUM_SLIDE}}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68880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46120" y="18745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REPORTFLOW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73552" y="26791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59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de la performance commerciale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6432" y="38221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JANVIER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SOMMAIRE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298448" y="1508760"/>
            <a:ext cx="8961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r-FR" sz="200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SYNTHÈSE GÉNÉRALE</a:t>
            </a:r>
          </a:p>
          <a:p>
            <a:pPr marL="0" indent="0">
              <a:buNone/>
            </a:pPr>
            <a:endParaRPr lang="fr-FR" sz="2000">
              <a:solidFill>
                <a:srgbClr val="33333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fr-FR" sz="200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CA NET VS OBJECTIF</a:t>
            </a:r>
          </a:p>
          <a:p>
            <a:pPr marL="0" indent="0">
              <a:buNone/>
            </a:pPr>
            <a:endParaRPr lang="fr-FR" sz="2000">
              <a:solidFill>
                <a:srgbClr val="33333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fr-FR" sz="200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TAUX D'ATTEINTE PAR COMMERCIAL</a:t>
            </a:r>
          </a:p>
          <a:p>
            <a:pPr marL="0" indent="0">
              <a:buNone/>
            </a:pPr>
            <a:endParaRPr lang="fr-FR" sz="2000">
              <a:solidFill>
                <a:srgbClr val="33333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fr-FR" sz="200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ANNULATIONS PAR COMMERCIAL</a:t>
            </a:r>
          </a:p>
          <a:p>
            <a:pPr marL="0" indent="0">
              <a:buNone/>
            </a:pPr>
            <a:endParaRPr lang="fr-FR" sz="2000">
              <a:solidFill>
                <a:srgbClr val="333333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buNone/>
            </a:pPr>
            <a:r>
              <a:rPr lang="fr-FR" sz="200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 POINTS D'ATTENTION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446520"/>
            <a:ext cx="11567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ReportFlow | JANVIER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15568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SYNTHÈSE GÉNÉRALE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7240" y="4380915"/>
            <a:ext cx="8092440" cy="1789145"/>
          </a:xfrm>
          <a:prstGeom prst="roundRect">
            <a:avLst>
              <a:gd name="adj" fmla="val 4848"/>
            </a:avLst>
          </a:prstGeom>
          <a:solidFill>
            <a:srgbClr val="F7F9FB"/>
          </a:solidFill>
          <a:ln w="15240">
            <a:solidFill>
              <a:srgbClr val="BDD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" y="4527220"/>
            <a:ext cx="7763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9B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COMMENTAIRE DE SYNTHÈSE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1832" y="4884349"/>
            <a:ext cx="7763256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956048"/>
            <a:ext cx="7763256" cy="960120"/>
          </a:xfrm>
          <a:prstGeom prst="rect">
            <a:avLst/>
          </a:prstGeom>
          <a:noFill/>
          <a:ln/>
        </p:spPr>
        <p:txBody>
          <a:bodyPr wrap="square" lIns="152400" tIns="127000" rIns="152400" bIns="127000" rtlCol="0" anchor="ctr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fr-FR" sz="1200">
                <a:solidFill>
                  <a:srgbClr val="3333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En janvier 2026, le chiffre d'affaires net atteint 36 200 €, soit 61,4% de l'objectif de 59 000 €. Le volume vendu s'établit à 23 pour un objectif de 36, soit 63,9%.</a:t>
            </a:r>
          </a:p>
          <a:p>
            <a:pPr marL="0" indent="0">
              <a:spcAft>
                <a:spcPts val="800"/>
              </a:spcAft>
              <a:buNone/>
            </a:pPr>
            <a:endParaRPr lang="fr-FR" sz="1200">
              <a:solidFill>
                <a:srgbClr val="333333"/>
              </a:solidFill>
              <a:latin typeface="Aptos" panose="020B0004020202020204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fr-FR" sz="1200">
                <a:solidFill>
                  <a:srgbClr val="3333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La performance globale reste sensiblement inférieure à l'objectif. La majorité des commerciaux se situe sous le seuil de surveillance et nécessite des actions ciblées.</a:t>
            </a:r>
            <a:endParaRPr lang="en-US" sz="1200" dirty="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6446520"/>
            <a:ext cx="11567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ReportFlow | JANVIER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5568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20EB35C-FB6B-AAC7-8A12-2D1A254171D9}"/>
              </a:ext>
            </a:extLst>
          </p:cNvPr>
          <p:cNvSpPr/>
          <p:nvPr/>
        </p:nvSpPr>
        <p:spPr>
          <a:xfrm>
            <a:off x="685800" y="1325880"/>
            <a:ext cx="2148840" cy="1005840"/>
          </a:xfrm>
          <a:prstGeom prst="roundRect">
            <a:avLst/>
          </a:prstGeom>
          <a:solidFill>
            <a:srgbClr val="FAF8F2"/>
          </a:solidFill>
          <a:ln w="13970">
            <a:solidFill>
              <a:srgbClr val="BFD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194249C-761D-4C98-4086-00CC381C944B}"/>
              </a:ext>
            </a:extLst>
          </p:cNvPr>
          <p:cNvSpPr txBox="1"/>
          <p:nvPr/>
        </p:nvSpPr>
        <p:spPr>
          <a:xfrm>
            <a:off x="777240" y="1444752"/>
            <a:ext cx="196596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fr-FR" sz="1000" b="1">
                <a:solidFill>
                  <a:srgbClr val="5B7554"/>
                </a:solidFill>
                <a:latin typeface="Aptos" panose="020B0004020202020204" pitchFamily="34" charset="0"/>
              </a:rPr>
              <a:t>CA NET TOTAL</a:t>
            </a:r>
          </a:p>
          <a:p>
            <a:pPr algn="ctr">
              <a:spcBef>
                <a:spcPts val="700"/>
              </a:spcBef>
            </a:pPr>
            <a:r>
              <a:rPr lang="fr-FR" sz="1900" b="1">
                <a:solidFill>
                  <a:srgbClr val="1F4E40"/>
                </a:solidFill>
                <a:latin typeface="Aptos" panose="020B0004020202020204" pitchFamily="34" charset="0"/>
              </a:rPr>
              <a:t>36 200 €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D6D31A46-9C4E-5E86-F942-4DD28B8459AF}"/>
              </a:ext>
            </a:extLst>
          </p:cNvPr>
          <p:cNvSpPr/>
          <p:nvPr/>
        </p:nvSpPr>
        <p:spPr>
          <a:xfrm>
            <a:off x="3383280" y="1325880"/>
            <a:ext cx="2148840" cy="1005840"/>
          </a:xfrm>
          <a:prstGeom prst="roundRect">
            <a:avLst/>
          </a:prstGeom>
          <a:solidFill>
            <a:srgbClr val="FAF8F2"/>
          </a:solidFill>
          <a:ln w="13970">
            <a:solidFill>
              <a:srgbClr val="BFD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025ED56-7997-7BAE-886E-EC9BCAABB505}"/>
              </a:ext>
            </a:extLst>
          </p:cNvPr>
          <p:cNvSpPr txBox="1"/>
          <p:nvPr/>
        </p:nvSpPr>
        <p:spPr>
          <a:xfrm>
            <a:off x="3474720" y="1444752"/>
            <a:ext cx="196596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fr-FR" sz="1000" b="1">
                <a:solidFill>
                  <a:srgbClr val="5B7554"/>
                </a:solidFill>
                <a:latin typeface="Aptos" panose="020B0004020202020204" pitchFamily="34" charset="0"/>
              </a:rPr>
              <a:t>OBJECTIF TOTAL</a:t>
            </a:r>
          </a:p>
          <a:p>
            <a:pPr algn="ctr">
              <a:spcBef>
                <a:spcPts val="700"/>
              </a:spcBef>
            </a:pPr>
            <a:r>
              <a:rPr lang="fr-FR" sz="1900" b="1">
                <a:solidFill>
                  <a:srgbClr val="1F4E40"/>
                </a:solidFill>
                <a:latin typeface="Aptos" panose="020B0004020202020204" pitchFamily="34" charset="0"/>
              </a:rPr>
              <a:t>59 000 €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7F988D5B-8BD5-83D1-7E7F-F622491FC8B2}"/>
              </a:ext>
            </a:extLst>
          </p:cNvPr>
          <p:cNvSpPr/>
          <p:nvPr/>
        </p:nvSpPr>
        <p:spPr>
          <a:xfrm>
            <a:off x="6080760" y="1325880"/>
            <a:ext cx="2148840" cy="1005840"/>
          </a:xfrm>
          <a:prstGeom prst="roundRect">
            <a:avLst/>
          </a:prstGeom>
          <a:solidFill>
            <a:srgbClr val="FAF8F2"/>
          </a:solidFill>
          <a:ln w="13970">
            <a:solidFill>
              <a:srgbClr val="BFD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1C44877-AD01-A9DB-0C6F-AE408A536E83}"/>
              </a:ext>
            </a:extLst>
          </p:cNvPr>
          <p:cNvSpPr txBox="1"/>
          <p:nvPr/>
        </p:nvSpPr>
        <p:spPr>
          <a:xfrm>
            <a:off x="6172200" y="1444752"/>
            <a:ext cx="196596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fr-FR" sz="1000" b="1">
                <a:solidFill>
                  <a:srgbClr val="5B7554"/>
                </a:solidFill>
                <a:latin typeface="Aptos" panose="020B0004020202020204" pitchFamily="34" charset="0"/>
              </a:rPr>
              <a:t>TAUX D'ATTEINTE</a:t>
            </a:r>
          </a:p>
          <a:p>
            <a:pPr algn="ctr">
              <a:spcBef>
                <a:spcPts val="700"/>
              </a:spcBef>
            </a:pPr>
            <a:r>
              <a:rPr lang="fr-FR" sz="1900" b="1">
                <a:solidFill>
                  <a:srgbClr val="1F4E40"/>
                </a:solidFill>
                <a:latin typeface="Aptos" panose="020B0004020202020204" pitchFamily="34" charset="0"/>
              </a:rPr>
              <a:t>61,4%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F2FABA1-4E22-B12A-17C9-DB08FA18F695}"/>
              </a:ext>
            </a:extLst>
          </p:cNvPr>
          <p:cNvSpPr/>
          <p:nvPr/>
        </p:nvSpPr>
        <p:spPr>
          <a:xfrm>
            <a:off x="2029968" y="2697480"/>
            <a:ext cx="2148840" cy="1005840"/>
          </a:xfrm>
          <a:prstGeom prst="roundRect">
            <a:avLst/>
          </a:prstGeom>
          <a:solidFill>
            <a:srgbClr val="FAF8F2"/>
          </a:solidFill>
          <a:ln w="13970">
            <a:solidFill>
              <a:srgbClr val="BFD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FF899A8-E723-9616-DFF2-78A05C39E65D}"/>
              </a:ext>
            </a:extLst>
          </p:cNvPr>
          <p:cNvSpPr txBox="1"/>
          <p:nvPr/>
        </p:nvSpPr>
        <p:spPr>
          <a:xfrm>
            <a:off x="2121408" y="2816352"/>
            <a:ext cx="196596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fr-FR" sz="1000" b="1">
                <a:solidFill>
                  <a:srgbClr val="5B7554"/>
                </a:solidFill>
                <a:latin typeface="Aptos" panose="020B0004020202020204" pitchFamily="34" charset="0"/>
              </a:rPr>
              <a:t>MONTANT ANNULÉ</a:t>
            </a:r>
          </a:p>
          <a:p>
            <a:pPr algn="ctr">
              <a:spcBef>
                <a:spcPts val="700"/>
              </a:spcBef>
            </a:pPr>
            <a:r>
              <a:rPr lang="fr-FR" sz="1900" b="1">
                <a:solidFill>
                  <a:srgbClr val="1F4E40"/>
                </a:solidFill>
                <a:latin typeface="Aptos" panose="020B0004020202020204" pitchFamily="34" charset="0"/>
              </a:rPr>
              <a:t>3 900 €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C6D5BF4F-9C43-C7B1-5688-0A2B53816AA7}"/>
              </a:ext>
            </a:extLst>
          </p:cNvPr>
          <p:cNvSpPr/>
          <p:nvPr/>
        </p:nvSpPr>
        <p:spPr>
          <a:xfrm>
            <a:off x="4727448" y="2697480"/>
            <a:ext cx="2148840" cy="1005840"/>
          </a:xfrm>
          <a:prstGeom prst="roundRect">
            <a:avLst/>
          </a:prstGeom>
          <a:solidFill>
            <a:srgbClr val="FAF8F2"/>
          </a:solidFill>
          <a:ln w="13970">
            <a:solidFill>
              <a:srgbClr val="BFD2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BC80D37-3A9D-A5F7-1810-0A3A903D2191}"/>
              </a:ext>
            </a:extLst>
          </p:cNvPr>
          <p:cNvSpPr txBox="1"/>
          <p:nvPr/>
        </p:nvSpPr>
        <p:spPr>
          <a:xfrm>
            <a:off x="4818888" y="2816352"/>
            <a:ext cx="1965960" cy="369332"/>
          </a:xfrm>
          <a:prstGeom prst="rect">
            <a:avLst/>
          </a:prstGeom>
          <a:noFill/>
        </p:spPr>
        <p:txBody>
          <a:bodyPr vert="horz" wrap="square" lIns="25400" tIns="0" rIns="25400" bIns="0" rtlCol="0">
            <a:noAutofit/>
          </a:bodyPr>
          <a:lstStyle/>
          <a:p>
            <a:pPr algn="ctr"/>
            <a:r>
              <a:rPr lang="fr-FR" sz="1000" b="1">
                <a:solidFill>
                  <a:srgbClr val="5B7554"/>
                </a:solidFill>
                <a:latin typeface="Aptos" panose="020B0004020202020204" pitchFamily="34" charset="0"/>
              </a:rPr>
              <a:t>VOLUME VENDU</a:t>
            </a:r>
          </a:p>
          <a:p>
            <a:pPr algn="ctr">
              <a:spcBef>
                <a:spcPts val="700"/>
              </a:spcBef>
            </a:pPr>
            <a:r>
              <a:rPr lang="fr-FR" sz="1900" b="1">
                <a:solidFill>
                  <a:srgbClr val="1F4E40"/>
                </a:solidFill>
                <a:latin typeface="Aptos" panose="020B0004020202020204" pitchFamily="34" charset="0"/>
              </a:rPr>
              <a:t>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 NET VS OBJECTIF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874000" y="1333499"/>
            <a:ext cx="3683000" cy="4318000"/>
          </a:xfrm>
          <a:prstGeom prst="rect">
            <a:avLst/>
          </a:prstGeom>
          <a:noFill/>
          <a:ln/>
        </p:spPr>
        <p:txBody>
          <a:bodyPr wrap="square" lIns="152400" tIns="127000" rIns="152400" bIns="127000" rtlCol="0" anchor="ctr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fr-FR" sz="1400">
                <a:solidFill>
                  <a:srgbClr val="3333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En janvier 2026, le chiffre d'affaires net atteint 36 200 €, soit 61,4% de l'objectif de 59 000 €. Le volume vendu s'établit à 23 pour un objectif de 36, soit 63,9%.</a:t>
            </a:r>
            <a:endParaRPr lang="en-US" sz="1400" dirty="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6446520"/>
            <a:ext cx="11567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ReportFlow | JANVIER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2696D8B-B3A3-E89F-D6C7-AB4501AB3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05" y="1206500"/>
            <a:ext cx="6849290" cy="4508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TAUX D'ATTEINTE PAR COMMERCIAL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20040" y="6446520"/>
            <a:ext cx="11567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ReportFlow | JANVIER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60185DB5-8C92-F98A-1D51-9814C664789C}"/>
              </a:ext>
            </a:extLst>
          </p:cNvPr>
          <p:cNvSpPr/>
          <p:nvPr/>
        </p:nvSpPr>
        <p:spPr>
          <a:xfrm>
            <a:off x="7874000" y="1333499"/>
            <a:ext cx="3683000" cy="4318000"/>
          </a:xfrm>
          <a:prstGeom prst="rect">
            <a:avLst/>
          </a:prstGeom>
          <a:noFill/>
          <a:ln/>
        </p:spPr>
        <p:txBody>
          <a:bodyPr wrap="square" lIns="152400" tIns="127000" rIns="152400" bIns="127000" rtlCol="0" anchor="ctr">
            <a:no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fr-FR" sz="1400">
                <a:solidFill>
                  <a:srgbClr val="3333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Julie Moreau présente le meilleur taux d'atteinte avec 84,8%.</a:t>
            </a:r>
          </a:p>
          <a:p>
            <a:pPr marL="0" indent="0">
              <a:spcAft>
                <a:spcPts val="800"/>
              </a:spcAft>
              <a:buNone/>
            </a:pPr>
            <a:endParaRPr lang="fr-FR" sz="1400">
              <a:solidFill>
                <a:srgbClr val="333333"/>
              </a:solidFill>
              <a:latin typeface="Aptos" panose="020B0004020202020204" pitchFamily="34" charset="0"/>
              <a:ea typeface="Aptos" pitchFamily="34" charset="-122"/>
              <a:cs typeface="Aptos" pitchFamily="34" charset="-12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fr-FR" sz="1400">
                <a:solidFill>
                  <a:srgbClr val="333333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Alice Martin présente le taux d'atteinte le plus faible avec 41,7%.</a:t>
            </a:r>
            <a:endParaRPr lang="en-US" sz="1400" dirty="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B1B272A4-9147-D5CB-9AC8-E862C84E7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65" y="1206500"/>
            <a:ext cx="6850971" cy="4508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ANNULATIONS PAR COMMERCIAL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20040" y="6446520"/>
            <a:ext cx="11567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ReportFlow | JANVIER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A903AB-5EFA-1478-6A6A-68379F8F2714}"/>
              </a:ext>
            </a:extLst>
          </p:cNvPr>
          <p:cNvSpPr txBox="1"/>
          <p:nvPr/>
        </p:nvSpPr>
        <p:spPr>
          <a:xfrm>
            <a:off x="7874000" y="1333500"/>
            <a:ext cx="3683000" cy="369332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fr-FR" sz="1400">
                <a:solidFill>
                  <a:srgbClr val="333333"/>
                </a:solidFill>
                <a:latin typeface="Aptos" panose="020B0004020202020204" pitchFamily="34" charset="0"/>
              </a:rPr>
              <a:t>Les annulations représentent 3 900 €, soit 9,7% du chiffre d'affaires brut. Karim Benali concentre le montant le plus élevé avec 2 100 €.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E5EBA4D-316B-D1B3-05C1-FC4B05577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758285"/>
            <a:ext cx="7048500" cy="3404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POINTS D'ATTENTION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20040" y="6446520"/>
            <a:ext cx="11567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ReportFlow | JANVIER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15568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>
                <a:solidFill>
                  <a:srgbClr val="7F7F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2A6BEA-31A2-CF8C-8E5A-48E234EB17D5}"/>
              </a:ext>
            </a:extLst>
          </p:cNvPr>
          <p:cNvSpPr txBox="1"/>
          <p:nvPr/>
        </p:nvSpPr>
        <p:spPr>
          <a:xfrm>
            <a:off x="7874000" y="1333500"/>
            <a:ext cx="3683000" cy="369332"/>
          </a:xfrm>
          <a:prstGeom prst="rect">
            <a:avLst/>
          </a:prstGeom>
          <a:noFill/>
        </p:spPr>
        <p:txBody>
          <a:bodyPr vert="horz" wrap="square" lIns="152400" tIns="127000" rIns="152400" bIns="127000" rtlCol="0">
            <a:noAutofit/>
          </a:bodyPr>
          <a:lstStyle/>
          <a:p>
            <a:pPr>
              <a:spcAft>
                <a:spcPts val="800"/>
              </a:spcAft>
            </a:pPr>
            <a:r>
              <a:rPr lang="fr-FR" sz="1400">
                <a:solidFill>
                  <a:srgbClr val="333333"/>
                </a:solidFill>
                <a:latin typeface="Aptos" panose="020B0004020202020204" pitchFamily="34" charset="0"/>
              </a:rPr>
              <a:t>Aucun commercial n'a atteint son objectif, un commercial est à surveiller et 4 commerciaux restent sous objectif.</a:t>
            </a:r>
          </a:p>
          <a:p>
            <a:pPr>
              <a:spcAft>
                <a:spcPts val="800"/>
              </a:spcAft>
            </a:pPr>
            <a:endParaRPr lang="fr-FR" sz="14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fr-FR" sz="1400">
                <a:solidFill>
                  <a:srgbClr val="333333"/>
                </a:solidFill>
                <a:latin typeface="Aptos" panose="020B0004020202020204" pitchFamily="34" charset="0"/>
              </a:rPr>
              <a:t>La performance globale reste sensiblement inférieure à l'objectif. La majorité des commerciaux se situe sous le seuil de surveillance et nécessite des actions ciblées.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27824DB-B91A-473C-F4A7-CAE66CF87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952045"/>
            <a:ext cx="7048500" cy="477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304</Words>
  <Application>Microsoft Office PowerPoint</Application>
  <PresentationFormat>Grand écran</PresentationFormat>
  <Paragraphs>59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ReportFlow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ReportFlow - Modèle masque</dc:title>
  <dc:subject>Modèle PowerPoint ReportFlow</dc:subject>
  <dc:creator>ReportFlow</dc:creator>
  <cp:lastModifiedBy>Gaetan Pourtout</cp:lastModifiedBy>
  <cp:revision>4</cp:revision>
  <dcterms:created xsi:type="dcterms:W3CDTF">2026-08-04T15:24:09Z</dcterms:created>
  <dcterms:modified xsi:type="dcterms:W3CDTF">2026-09-07T20:41:56Z</dcterms:modified>
</cp:coreProperties>
</file>